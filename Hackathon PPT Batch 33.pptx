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2" r:id="rId5"/>
    <p:sldId id="276" r:id="rId6"/>
    <p:sldId id="263" r:id="rId7"/>
    <p:sldId id="272" r:id="rId8"/>
    <p:sldId id="264" r:id="rId9"/>
    <p:sldId id="273" r:id="rId10"/>
    <p:sldId id="275" r:id="rId11"/>
    <p:sldId id="266" r:id="rId12"/>
    <p:sldId id="274" r:id="rId13"/>
    <p:sldId id="265"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C3CF1-2F73-AFDF-4989-4AFB0DF3B0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CA7D50-6753-12DD-64F5-A14CFC83E0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415E20-6E60-B9F7-00A9-DC1A3440D590}"/>
              </a:ext>
            </a:extLst>
          </p:cNvPr>
          <p:cNvSpPr>
            <a:spLocks noGrp="1"/>
          </p:cNvSpPr>
          <p:nvPr>
            <p:ph type="dt" sz="half" idx="10"/>
          </p:nvPr>
        </p:nvSpPr>
        <p:spPr/>
        <p:txBody>
          <a:bodyPr/>
          <a:lstStyle/>
          <a:p>
            <a:fld id="{4BE901A0-E056-49F1-9E58-1E76867749A4}" type="datetimeFigureOut">
              <a:rPr lang="en-IN" smtClean="0"/>
              <a:t>06-04-2026</a:t>
            </a:fld>
            <a:endParaRPr lang="en-IN"/>
          </a:p>
        </p:txBody>
      </p:sp>
      <p:sp>
        <p:nvSpPr>
          <p:cNvPr id="5" name="Footer Placeholder 4">
            <a:extLst>
              <a:ext uri="{FF2B5EF4-FFF2-40B4-BE49-F238E27FC236}">
                <a16:creationId xmlns:a16="http://schemas.microsoft.com/office/drawing/2014/main" id="{57CBEDF2-03A8-C4DA-B10D-36F1E6B7A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17D599-18EB-E2BD-E15C-128F94BECAB6}"/>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1027633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48A03-A1A1-DE6B-AACE-7A7D197AF6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B8A189-CE98-891F-10AA-9A445871FF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0ECCFF-1517-88A0-E8F2-3BAADC6E7D98}"/>
              </a:ext>
            </a:extLst>
          </p:cNvPr>
          <p:cNvSpPr>
            <a:spLocks noGrp="1"/>
          </p:cNvSpPr>
          <p:nvPr>
            <p:ph type="dt" sz="half" idx="10"/>
          </p:nvPr>
        </p:nvSpPr>
        <p:spPr/>
        <p:txBody>
          <a:bodyPr/>
          <a:lstStyle/>
          <a:p>
            <a:fld id="{4BE901A0-E056-49F1-9E58-1E76867749A4}" type="datetimeFigureOut">
              <a:rPr lang="en-IN" smtClean="0"/>
              <a:t>06-04-2026</a:t>
            </a:fld>
            <a:endParaRPr lang="en-IN"/>
          </a:p>
        </p:txBody>
      </p:sp>
      <p:sp>
        <p:nvSpPr>
          <p:cNvPr id="5" name="Footer Placeholder 4">
            <a:extLst>
              <a:ext uri="{FF2B5EF4-FFF2-40B4-BE49-F238E27FC236}">
                <a16:creationId xmlns:a16="http://schemas.microsoft.com/office/drawing/2014/main" id="{71452C15-4F5C-1D55-5A10-BFD6220A8E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7C8071-AF5B-7C9A-957C-41902829EFC5}"/>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12824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DD75E-23B1-0380-B792-476CD894C7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66A0F6-35E6-E299-E568-5B449E8B89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BE1E4C-B855-E079-8BBB-D49EE444D42D}"/>
              </a:ext>
            </a:extLst>
          </p:cNvPr>
          <p:cNvSpPr>
            <a:spLocks noGrp="1"/>
          </p:cNvSpPr>
          <p:nvPr>
            <p:ph type="dt" sz="half" idx="10"/>
          </p:nvPr>
        </p:nvSpPr>
        <p:spPr/>
        <p:txBody>
          <a:bodyPr/>
          <a:lstStyle/>
          <a:p>
            <a:fld id="{4BE901A0-E056-49F1-9E58-1E76867749A4}" type="datetimeFigureOut">
              <a:rPr lang="en-IN" smtClean="0"/>
              <a:t>06-04-2026</a:t>
            </a:fld>
            <a:endParaRPr lang="en-IN"/>
          </a:p>
        </p:txBody>
      </p:sp>
      <p:sp>
        <p:nvSpPr>
          <p:cNvPr id="5" name="Footer Placeholder 4">
            <a:extLst>
              <a:ext uri="{FF2B5EF4-FFF2-40B4-BE49-F238E27FC236}">
                <a16:creationId xmlns:a16="http://schemas.microsoft.com/office/drawing/2014/main" id="{03FFF47F-B6EF-1F60-B67E-CECE536E68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45010E-DA8D-6DBA-7B82-677E84031F32}"/>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176885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C509E-60EB-4F45-1106-AFCB239693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A9E4CA-DBBF-C5CB-99C3-17066D036F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44E934-6350-AB25-4B9C-704D6B1F19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9780A9-DDE1-DE99-0A5B-F41464790029}"/>
              </a:ext>
            </a:extLst>
          </p:cNvPr>
          <p:cNvSpPr>
            <a:spLocks noGrp="1"/>
          </p:cNvSpPr>
          <p:nvPr>
            <p:ph type="dt" sz="half" idx="10"/>
          </p:nvPr>
        </p:nvSpPr>
        <p:spPr/>
        <p:txBody>
          <a:bodyPr/>
          <a:lstStyle/>
          <a:p>
            <a:fld id="{4BE901A0-E056-49F1-9E58-1E76867749A4}" type="datetimeFigureOut">
              <a:rPr lang="en-IN" smtClean="0"/>
              <a:t>06-04-2026</a:t>
            </a:fld>
            <a:endParaRPr lang="en-IN"/>
          </a:p>
        </p:txBody>
      </p:sp>
      <p:sp>
        <p:nvSpPr>
          <p:cNvPr id="6" name="Footer Placeholder 5">
            <a:extLst>
              <a:ext uri="{FF2B5EF4-FFF2-40B4-BE49-F238E27FC236}">
                <a16:creationId xmlns:a16="http://schemas.microsoft.com/office/drawing/2014/main" id="{884469DB-2F8D-E5BF-0331-6BA8DB1418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77D72E-D079-F46C-269F-C13D006318CE}"/>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569316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5FAB-D7B6-EA18-2819-309CC2DC0F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E5B04A-4B73-91C0-9DCF-D29A1691C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47D096-30DA-E1DF-9735-1437EA6C68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94C3796-CF2C-027C-A84D-A351F94835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BF7B04-32AC-5160-4C02-433E435931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CCDB7B-4BEB-3D7D-7FBC-F4F9CAA93725}"/>
              </a:ext>
            </a:extLst>
          </p:cNvPr>
          <p:cNvSpPr>
            <a:spLocks noGrp="1"/>
          </p:cNvSpPr>
          <p:nvPr>
            <p:ph type="dt" sz="half" idx="10"/>
          </p:nvPr>
        </p:nvSpPr>
        <p:spPr/>
        <p:txBody>
          <a:bodyPr/>
          <a:lstStyle/>
          <a:p>
            <a:fld id="{4BE901A0-E056-49F1-9E58-1E76867749A4}" type="datetimeFigureOut">
              <a:rPr lang="en-IN" smtClean="0"/>
              <a:t>06-04-2026</a:t>
            </a:fld>
            <a:endParaRPr lang="en-IN"/>
          </a:p>
        </p:txBody>
      </p:sp>
      <p:sp>
        <p:nvSpPr>
          <p:cNvPr id="8" name="Footer Placeholder 7">
            <a:extLst>
              <a:ext uri="{FF2B5EF4-FFF2-40B4-BE49-F238E27FC236}">
                <a16:creationId xmlns:a16="http://schemas.microsoft.com/office/drawing/2014/main" id="{8E145A57-8DE8-8F51-2FDE-BC04B04BD6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C60CBE5-FA6B-EEBD-FDF1-28E0ACE93E8F}"/>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97294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8AE5C-5674-66C8-62F9-9CD13D2ACD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2E7F30-723D-F789-AA6C-7C7A3F4FA629}"/>
              </a:ext>
            </a:extLst>
          </p:cNvPr>
          <p:cNvSpPr>
            <a:spLocks noGrp="1"/>
          </p:cNvSpPr>
          <p:nvPr>
            <p:ph type="dt" sz="half" idx="10"/>
          </p:nvPr>
        </p:nvSpPr>
        <p:spPr/>
        <p:txBody>
          <a:bodyPr/>
          <a:lstStyle/>
          <a:p>
            <a:fld id="{4BE901A0-E056-49F1-9E58-1E76867749A4}" type="datetimeFigureOut">
              <a:rPr lang="en-IN" smtClean="0"/>
              <a:t>06-04-2026</a:t>
            </a:fld>
            <a:endParaRPr lang="en-IN"/>
          </a:p>
        </p:txBody>
      </p:sp>
      <p:sp>
        <p:nvSpPr>
          <p:cNvPr id="4" name="Footer Placeholder 3">
            <a:extLst>
              <a:ext uri="{FF2B5EF4-FFF2-40B4-BE49-F238E27FC236}">
                <a16:creationId xmlns:a16="http://schemas.microsoft.com/office/drawing/2014/main" id="{6680EC85-4639-8B33-6F71-BCFADD14F58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D831979-D447-BB6A-6185-4AD9AB6EF42E}"/>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594059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478BFF-97DA-0C46-F1A8-A4B168620A51}"/>
              </a:ext>
            </a:extLst>
          </p:cNvPr>
          <p:cNvSpPr>
            <a:spLocks noGrp="1"/>
          </p:cNvSpPr>
          <p:nvPr>
            <p:ph type="dt" sz="half" idx="10"/>
          </p:nvPr>
        </p:nvSpPr>
        <p:spPr/>
        <p:txBody>
          <a:bodyPr/>
          <a:lstStyle/>
          <a:p>
            <a:fld id="{4BE901A0-E056-49F1-9E58-1E76867749A4}" type="datetimeFigureOut">
              <a:rPr lang="en-IN" smtClean="0"/>
              <a:t>06-04-2026</a:t>
            </a:fld>
            <a:endParaRPr lang="en-IN"/>
          </a:p>
        </p:txBody>
      </p:sp>
      <p:sp>
        <p:nvSpPr>
          <p:cNvPr id="3" name="Footer Placeholder 2">
            <a:extLst>
              <a:ext uri="{FF2B5EF4-FFF2-40B4-BE49-F238E27FC236}">
                <a16:creationId xmlns:a16="http://schemas.microsoft.com/office/drawing/2014/main" id="{15CD71BA-6053-4430-B938-C099F9237A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2AF912-8D5D-568D-27A9-84A49ABB60A3}"/>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870845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81700-471D-1BD0-2914-2AB0E96783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52584A-AE16-3214-79A0-10B3E5BE39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25A16A3-44F4-7065-C74C-CF5E00B6CC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AD621B-D66B-C313-7A49-1A4C4164B756}"/>
              </a:ext>
            </a:extLst>
          </p:cNvPr>
          <p:cNvSpPr>
            <a:spLocks noGrp="1"/>
          </p:cNvSpPr>
          <p:nvPr>
            <p:ph type="dt" sz="half" idx="10"/>
          </p:nvPr>
        </p:nvSpPr>
        <p:spPr/>
        <p:txBody>
          <a:bodyPr/>
          <a:lstStyle/>
          <a:p>
            <a:fld id="{4BE901A0-E056-49F1-9E58-1E76867749A4}" type="datetimeFigureOut">
              <a:rPr lang="en-IN" smtClean="0"/>
              <a:t>06-04-2026</a:t>
            </a:fld>
            <a:endParaRPr lang="en-IN"/>
          </a:p>
        </p:txBody>
      </p:sp>
      <p:sp>
        <p:nvSpPr>
          <p:cNvPr id="6" name="Footer Placeholder 5">
            <a:extLst>
              <a:ext uri="{FF2B5EF4-FFF2-40B4-BE49-F238E27FC236}">
                <a16:creationId xmlns:a16="http://schemas.microsoft.com/office/drawing/2014/main" id="{46D2ADC0-6732-CBC1-D61E-8C316FF3A7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922277-2D9E-E998-5F0C-29371DA028DA}"/>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139364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05248-5DD7-8C8C-74A4-F6996D889C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0FE33E-582D-82D2-8081-84D99B0199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BE5A870-3C51-CD2F-2291-8730E20AE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832C2E-DBC2-DD67-F951-D113D88F3F63}"/>
              </a:ext>
            </a:extLst>
          </p:cNvPr>
          <p:cNvSpPr>
            <a:spLocks noGrp="1"/>
          </p:cNvSpPr>
          <p:nvPr>
            <p:ph type="dt" sz="half" idx="10"/>
          </p:nvPr>
        </p:nvSpPr>
        <p:spPr/>
        <p:txBody>
          <a:bodyPr/>
          <a:lstStyle/>
          <a:p>
            <a:fld id="{4BE901A0-E056-49F1-9E58-1E76867749A4}" type="datetimeFigureOut">
              <a:rPr lang="en-IN" smtClean="0"/>
              <a:t>06-04-2026</a:t>
            </a:fld>
            <a:endParaRPr lang="en-IN"/>
          </a:p>
        </p:txBody>
      </p:sp>
      <p:sp>
        <p:nvSpPr>
          <p:cNvPr id="6" name="Footer Placeholder 5">
            <a:extLst>
              <a:ext uri="{FF2B5EF4-FFF2-40B4-BE49-F238E27FC236}">
                <a16:creationId xmlns:a16="http://schemas.microsoft.com/office/drawing/2014/main" id="{5C5B5FD2-EB6D-8131-2591-71F797A737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7BE22B-D517-0BEC-0CF4-4405C7DA7ECB}"/>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863501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29CEF-3C30-1856-85E8-576F085B8FA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E34A65-7162-AB5B-E13E-FCE70248A4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875ED3-0647-18FF-85E4-1D55F89A4285}"/>
              </a:ext>
            </a:extLst>
          </p:cNvPr>
          <p:cNvSpPr>
            <a:spLocks noGrp="1"/>
          </p:cNvSpPr>
          <p:nvPr>
            <p:ph type="dt" sz="half" idx="10"/>
          </p:nvPr>
        </p:nvSpPr>
        <p:spPr/>
        <p:txBody>
          <a:bodyPr/>
          <a:lstStyle/>
          <a:p>
            <a:fld id="{4BE901A0-E056-49F1-9E58-1E76867749A4}" type="datetimeFigureOut">
              <a:rPr lang="en-IN" smtClean="0"/>
              <a:t>06-04-2026</a:t>
            </a:fld>
            <a:endParaRPr lang="en-IN"/>
          </a:p>
        </p:txBody>
      </p:sp>
      <p:sp>
        <p:nvSpPr>
          <p:cNvPr id="5" name="Footer Placeholder 4">
            <a:extLst>
              <a:ext uri="{FF2B5EF4-FFF2-40B4-BE49-F238E27FC236}">
                <a16:creationId xmlns:a16="http://schemas.microsoft.com/office/drawing/2014/main" id="{8BECE3BC-F842-5659-73BE-B1EFCFEAB4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A4CF2B-3D29-7B9A-6993-505B1F8538EE}"/>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1700581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0B59A1-B3E9-2AEF-2405-8B6A7841DC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0C48E2-94C3-CBEB-1D5E-30F6B0CC13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87ED94-0078-B773-BB8B-6530A1E11A77}"/>
              </a:ext>
            </a:extLst>
          </p:cNvPr>
          <p:cNvSpPr>
            <a:spLocks noGrp="1"/>
          </p:cNvSpPr>
          <p:nvPr>
            <p:ph type="dt" sz="half" idx="10"/>
          </p:nvPr>
        </p:nvSpPr>
        <p:spPr/>
        <p:txBody>
          <a:bodyPr/>
          <a:lstStyle/>
          <a:p>
            <a:fld id="{4BE901A0-E056-49F1-9E58-1E76867749A4}" type="datetimeFigureOut">
              <a:rPr lang="en-IN" smtClean="0"/>
              <a:t>06-04-2026</a:t>
            </a:fld>
            <a:endParaRPr lang="en-IN"/>
          </a:p>
        </p:txBody>
      </p:sp>
      <p:sp>
        <p:nvSpPr>
          <p:cNvPr id="5" name="Footer Placeholder 4">
            <a:extLst>
              <a:ext uri="{FF2B5EF4-FFF2-40B4-BE49-F238E27FC236}">
                <a16:creationId xmlns:a16="http://schemas.microsoft.com/office/drawing/2014/main" id="{42FB23F7-A87A-B85A-708F-7B793661AF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1B7C9F-0D29-2EE5-535D-008C23CBAFB0}"/>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293274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E6D41C-A0B6-DC28-B429-715B9A9E04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BECC3A-B594-FEA3-0CDE-C91D0919C0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1A3F8A-6BE3-807E-90A7-AEAE1E1407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E901A0-E056-49F1-9E58-1E76867749A4}" type="datetimeFigureOut">
              <a:rPr lang="en-IN" smtClean="0"/>
              <a:t>06-04-2026</a:t>
            </a:fld>
            <a:endParaRPr lang="en-IN"/>
          </a:p>
        </p:txBody>
      </p:sp>
      <p:sp>
        <p:nvSpPr>
          <p:cNvPr id="5" name="Footer Placeholder 4">
            <a:extLst>
              <a:ext uri="{FF2B5EF4-FFF2-40B4-BE49-F238E27FC236}">
                <a16:creationId xmlns:a16="http://schemas.microsoft.com/office/drawing/2014/main" id="{5C28EAC8-67B4-F646-40AA-4C4A543217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40AC346-B883-60A2-6369-2D2BACE654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EE178D-1369-4C32-A5F7-569194E12761}" type="slidenum">
              <a:rPr lang="en-IN" smtClean="0"/>
              <a:t>‹#›</a:t>
            </a:fld>
            <a:endParaRPr lang="en-IN"/>
          </a:p>
        </p:txBody>
      </p:sp>
    </p:spTree>
    <p:extLst>
      <p:ext uri="{BB962C8B-B14F-4D97-AF65-F5344CB8AC3E}">
        <p14:creationId xmlns:p14="http://schemas.microsoft.com/office/powerpoint/2010/main" val="2598477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8C63-42EC-E038-7D47-F0B88D0510B1}"/>
              </a:ext>
            </a:extLst>
          </p:cNvPr>
          <p:cNvSpPr>
            <a:spLocks noGrp="1"/>
          </p:cNvSpPr>
          <p:nvPr>
            <p:ph type="ctrTitle"/>
          </p:nvPr>
        </p:nvSpPr>
        <p:spPr>
          <a:xfrm>
            <a:off x="1671484" y="1351475"/>
            <a:ext cx="9144000" cy="1837147"/>
          </a:xfrm>
        </p:spPr>
        <p:txBody>
          <a:bodyPr>
            <a:normAutofit fontScale="90000"/>
          </a:bodyPr>
          <a:lstStyle/>
          <a:p>
            <a:r>
              <a:rPr lang="en-US" b="1" dirty="0"/>
              <a:t>Solar Power Generation Forecasting for Grid Management</a:t>
            </a:r>
            <a:endParaRPr lang="en-IN" b="1" dirty="0"/>
          </a:p>
        </p:txBody>
      </p:sp>
      <p:sp>
        <p:nvSpPr>
          <p:cNvPr id="3" name="Subtitle 2">
            <a:extLst>
              <a:ext uri="{FF2B5EF4-FFF2-40B4-BE49-F238E27FC236}">
                <a16:creationId xmlns:a16="http://schemas.microsoft.com/office/drawing/2014/main" id="{FE395246-C9B6-21C3-23F8-49BC577D2073}"/>
              </a:ext>
            </a:extLst>
          </p:cNvPr>
          <p:cNvSpPr>
            <a:spLocks noGrp="1"/>
          </p:cNvSpPr>
          <p:nvPr>
            <p:ph type="subTitle" idx="1"/>
          </p:nvPr>
        </p:nvSpPr>
        <p:spPr>
          <a:xfrm>
            <a:off x="2015613" y="4182142"/>
            <a:ext cx="9144000" cy="1655762"/>
          </a:xfrm>
        </p:spPr>
        <p:txBody>
          <a:bodyPr/>
          <a:lstStyle/>
          <a:p>
            <a:pPr algn="r"/>
            <a:r>
              <a:rPr lang="en-US" dirty="0"/>
              <a:t>			SAI JASHAN (2420080045)</a:t>
            </a:r>
          </a:p>
          <a:p>
            <a:pPr algn="r"/>
            <a:r>
              <a:rPr lang="en-US" dirty="0" err="1"/>
              <a:t>K.v.Aditya</a:t>
            </a:r>
            <a:r>
              <a:rPr lang="en-US" dirty="0"/>
              <a:t>(2420080044)</a:t>
            </a:r>
          </a:p>
          <a:p>
            <a:pPr algn="r"/>
            <a:r>
              <a:rPr lang="en-US" dirty="0"/>
              <a:t>Neeraj(2420080010)</a:t>
            </a:r>
            <a:endParaRPr lang="en-IN" dirty="0"/>
          </a:p>
        </p:txBody>
      </p:sp>
      <p:pic>
        <p:nvPicPr>
          <p:cNvPr id="6" name="Picture 2" descr="MAPS &amp; DIRECTIONS - Best Private University in Telangana &amp; Andhra Pradesh | KLH  Hyderabad">
            <a:extLst>
              <a:ext uri="{FF2B5EF4-FFF2-40B4-BE49-F238E27FC236}">
                <a16:creationId xmlns:a16="http://schemas.microsoft.com/office/drawing/2014/main" id="{DB5B562B-7246-7AFE-CDF4-F4D39658C5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5195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47DB8-EA92-1C11-ECEB-942C4773E9C7}"/>
              </a:ext>
            </a:extLst>
          </p:cNvPr>
          <p:cNvSpPr>
            <a:spLocks noGrp="1"/>
          </p:cNvSpPr>
          <p:nvPr>
            <p:ph type="title"/>
          </p:nvPr>
        </p:nvSpPr>
        <p:spPr/>
        <p:txBody>
          <a:bodyPr/>
          <a:lstStyle/>
          <a:p>
            <a:r>
              <a:rPr lang="en-US" b="1" dirty="0"/>
              <a:t>Table of Contents</a:t>
            </a:r>
            <a:endParaRPr lang="en-IN" b="1" dirty="0"/>
          </a:p>
        </p:txBody>
      </p:sp>
      <p:sp>
        <p:nvSpPr>
          <p:cNvPr id="3" name="Content Placeholder 2">
            <a:extLst>
              <a:ext uri="{FF2B5EF4-FFF2-40B4-BE49-F238E27FC236}">
                <a16:creationId xmlns:a16="http://schemas.microsoft.com/office/drawing/2014/main" id="{D2F483DC-22D6-7CC6-5E3E-C6293674238E}"/>
              </a:ext>
            </a:extLst>
          </p:cNvPr>
          <p:cNvSpPr>
            <a:spLocks noGrp="1"/>
          </p:cNvSpPr>
          <p:nvPr>
            <p:ph idx="1"/>
          </p:nvPr>
        </p:nvSpPr>
        <p:spPr>
          <a:xfrm>
            <a:off x="926689" y="1690688"/>
            <a:ext cx="10515600" cy="4351338"/>
          </a:xfrm>
        </p:spPr>
        <p:txBody>
          <a:bodyPr/>
          <a:lstStyle/>
          <a:p>
            <a:r>
              <a:rPr lang="en-US" dirty="0"/>
              <a:t>Problem Statement</a:t>
            </a:r>
          </a:p>
          <a:p>
            <a:r>
              <a:rPr lang="en-US" dirty="0"/>
              <a:t>Tasks</a:t>
            </a:r>
          </a:p>
          <a:p>
            <a:r>
              <a:rPr lang="en-US" dirty="0"/>
              <a:t>Datasets Description</a:t>
            </a:r>
          </a:p>
          <a:p>
            <a:r>
              <a:rPr lang="en-US" dirty="0"/>
              <a:t>Methodology</a:t>
            </a:r>
          </a:p>
          <a:p>
            <a:r>
              <a:rPr lang="en-US" dirty="0"/>
              <a:t>Task-1 Results</a:t>
            </a:r>
          </a:p>
          <a:p>
            <a:r>
              <a:rPr lang="en-US" dirty="0"/>
              <a:t>Task-2 Results</a:t>
            </a:r>
          </a:p>
          <a:p>
            <a:r>
              <a:rPr lang="en-US" dirty="0"/>
              <a:t>Task-3 Results</a:t>
            </a:r>
          </a:p>
          <a:p>
            <a:r>
              <a:rPr lang="en-US" dirty="0"/>
              <a:t>Conclusions</a:t>
            </a:r>
          </a:p>
          <a:p>
            <a:endParaRPr lang="en-IN" dirty="0"/>
          </a:p>
        </p:txBody>
      </p:sp>
      <p:pic>
        <p:nvPicPr>
          <p:cNvPr id="4" name="Picture 2" descr="MAPS &amp; DIRECTIONS - Best Private University in Telangana &amp; Andhra Pradesh | KLH  Hyderabad">
            <a:extLst>
              <a:ext uri="{FF2B5EF4-FFF2-40B4-BE49-F238E27FC236}">
                <a16:creationId xmlns:a16="http://schemas.microsoft.com/office/drawing/2014/main" id="{7FE4E5F3-B871-A3E7-3CFE-7E0E6B41C7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595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2F94-9809-DD7A-B7CB-8CFCC3CDB284}"/>
              </a:ext>
            </a:extLst>
          </p:cNvPr>
          <p:cNvSpPr>
            <a:spLocks noGrp="1"/>
          </p:cNvSpPr>
          <p:nvPr>
            <p:ph type="title"/>
          </p:nvPr>
        </p:nvSpPr>
        <p:spPr/>
        <p:txBody>
          <a:bodyPr/>
          <a:lstStyle/>
          <a:p>
            <a:r>
              <a:rPr lang="en-US" b="1" dirty="0"/>
              <a:t>Problem Statement</a:t>
            </a:r>
            <a:endParaRPr lang="en-IN" b="1" dirty="0"/>
          </a:p>
        </p:txBody>
      </p:sp>
      <p:sp>
        <p:nvSpPr>
          <p:cNvPr id="3" name="Content Placeholder 2">
            <a:extLst>
              <a:ext uri="{FF2B5EF4-FFF2-40B4-BE49-F238E27FC236}">
                <a16:creationId xmlns:a16="http://schemas.microsoft.com/office/drawing/2014/main" id="{A64A0DCE-0F12-7FD4-900A-FAE65D1841F7}"/>
              </a:ext>
            </a:extLst>
          </p:cNvPr>
          <p:cNvSpPr>
            <a:spLocks noGrp="1"/>
          </p:cNvSpPr>
          <p:nvPr>
            <p:ph idx="1"/>
          </p:nvPr>
        </p:nvSpPr>
        <p:spPr/>
        <p:txBody>
          <a:bodyPr/>
          <a:lstStyle/>
          <a:p>
            <a:pPr marL="0" indent="0" algn="just">
              <a:buNone/>
            </a:pPr>
            <a:r>
              <a:rPr lang="en-US" dirty="0"/>
              <a:t>Grid operators need accurate 24-hour-ahead solar power generation forecasts to balance supply and demand and reduce curtailment. Intermittent cloud cover and weather variability make solar forecasting challenging. Accurate probabilistic forecasts allow grid operators to schedule backup reserves appropriately, enabling higher renewable penetration.</a:t>
            </a:r>
            <a:endParaRPr lang="en-IN" dirty="0"/>
          </a:p>
        </p:txBody>
      </p:sp>
      <p:pic>
        <p:nvPicPr>
          <p:cNvPr id="4" name="Picture 2" descr="MAPS &amp; DIRECTIONS - Best Private University in Telangana &amp; Andhra Pradesh | KLH  Hyderabad">
            <a:extLst>
              <a:ext uri="{FF2B5EF4-FFF2-40B4-BE49-F238E27FC236}">
                <a16:creationId xmlns:a16="http://schemas.microsoft.com/office/drawing/2014/main" id="{C9494C51-E043-7423-7B3B-7E5FAA0DDE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7171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04782-4B33-67C0-C34B-0EF037EAEA1B}"/>
              </a:ext>
            </a:extLst>
          </p:cNvPr>
          <p:cNvSpPr>
            <a:spLocks noGrp="1"/>
          </p:cNvSpPr>
          <p:nvPr>
            <p:ph type="title"/>
          </p:nvPr>
        </p:nvSpPr>
        <p:spPr/>
        <p:txBody>
          <a:bodyPr/>
          <a:lstStyle/>
          <a:p>
            <a:r>
              <a:rPr lang="en-US" b="1" dirty="0"/>
              <a:t>Dataset/s Description</a:t>
            </a:r>
            <a:endParaRPr lang="en-IN" b="1" dirty="0"/>
          </a:p>
        </p:txBody>
      </p:sp>
      <p:sp>
        <p:nvSpPr>
          <p:cNvPr id="3" name="Content Placeholder 2">
            <a:extLst>
              <a:ext uri="{FF2B5EF4-FFF2-40B4-BE49-F238E27FC236}">
                <a16:creationId xmlns:a16="http://schemas.microsoft.com/office/drawing/2014/main" id="{51CD8276-F9E2-D6BE-583A-ED6400DF5B00}"/>
              </a:ext>
            </a:extLst>
          </p:cNvPr>
          <p:cNvSpPr>
            <a:spLocks noGrp="1"/>
          </p:cNvSpPr>
          <p:nvPr>
            <p:ph idx="1"/>
          </p:nvPr>
        </p:nvSpPr>
        <p:spPr>
          <a:xfrm>
            <a:off x="838200" y="1825624"/>
            <a:ext cx="12887632" cy="5627227"/>
          </a:xfrm>
        </p:spPr>
        <p:txBody>
          <a:bodyPr>
            <a:normAutofit/>
          </a:bodyPr>
          <a:lstStyle/>
          <a:p>
            <a:r>
              <a:rPr lang="en-US" b="1" dirty="0"/>
              <a:t>Dataset-1</a:t>
            </a:r>
          </a:p>
          <a:p>
            <a:pPr lvl="1"/>
            <a:r>
              <a:rPr lang="en-US" b="1" dirty="0"/>
              <a:t>Total no of Samples:2930</a:t>
            </a:r>
          </a:p>
          <a:p>
            <a:pPr lvl="1"/>
            <a:r>
              <a:rPr lang="en-US" b="1" dirty="0"/>
              <a:t>Training Samples:2344</a:t>
            </a:r>
          </a:p>
          <a:p>
            <a:pPr lvl="1"/>
            <a:r>
              <a:rPr lang="en-US" b="1" dirty="0"/>
              <a:t>Validation Samples:293</a:t>
            </a:r>
          </a:p>
          <a:p>
            <a:pPr lvl="1"/>
            <a:r>
              <a:rPr lang="en-US" b="1" dirty="0"/>
              <a:t>Testing Samples:239</a:t>
            </a:r>
          </a:p>
          <a:p>
            <a:endParaRPr lang="en-US" b="1" dirty="0"/>
          </a:p>
          <a:p>
            <a:pPr marL="0" indent="0">
              <a:buNone/>
            </a:pPr>
            <a:endParaRPr lang="en-IN" b="1" dirty="0"/>
          </a:p>
        </p:txBody>
      </p:sp>
      <p:pic>
        <p:nvPicPr>
          <p:cNvPr id="4" name="Picture 2" descr="MAPS &amp; DIRECTIONS - Best Private University in Telangana &amp; Andhra Pradesh | KLH  Hyderabad">
            <a:extLst>
              <a:ext uri="{FF2B5EF4-FFF2-40B4-BE49-F238E27FC236}">
                <a16:creationId xmlns:a16="http://schemas.microsoft.com/office/drawing/2014/main" id="{BD169822-8ACE-0A8D-E365-54C4C07C1A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0692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B97E4-5961-B560-8DC8-F896CC6FD5E7}"/>
              </a:ext>
            </a:extLst>
          </p:cNvPr>
          <p:cNvSpPr>
            <a:spLocks noGrp="1"/>
          </p:cNvSpPr>
          <p:nvPr>
            <p:ph type="title"/>
          </p:nvPr>
        </p:nvSpPr>
        <p:spPr/>
        <p:txBody>
          <a:bodyPr/>
          <a:lstStyle/>
          <a:p>
            <a:r>
              <a:rPr lang="en-US" dirty="0"/>
              <a:t>Tasks</a:t>
            </a:r>
          </a:p>
        </p:txBody>
      </p:sp>
      <p:pic>
        <p:nvPicPr>
          <p:cNvPr id="6" name="Content Placeholder 5">
            <a:extLst>
              <a:ext uri="{FF2B5EF4-FFF2-40B4-BE49-F238E27FC236}">
                <a16:creationId xmlns:a16="http://schemas.microsoft.com/office/drawing/2014/main" id="{D1CBD425-6A39-309D-7AF5-D5B37E102F1C}"/>
              </a:ext>
            </a:extLst>
          </p:cNvPr>
          <p:cNvPicPr>
            <a:picLocks noGrp="1" noChangeAspect="1"/>
          </p:cNvPicPr>
          <p:nvPr>
            <p:ph sz="half" idx="1"/>
          </p:nvPr>
        </p:nvPicPr>
        <p:blipFill>
          <a:blip r:embed="rId2"/>
          <a:stretch>
            <a:fillRect/>
          </a:stretch>
        </p:blipFill>
        <p:spPr>
          <a:xfrm>
            <a:off x="571638" y="3087884"/>
            <a:ext cx="4994957" cy="1460201"/>
          </a:xfrm>
          <a:prstGeom prst="rect">
            <a:avLst/>
          </a:prstGeom>
        </p:spPr>
      </p:pic>
      <p:pic>
        <p:nvPicPr>
          <p:cNvPr id="12" name="Content Placeholder 11">
            <a:extLst>
              <a:ext uri="{FF2B5EF4-FFF2-40B4-BE49-F238E27FC236}">
                <a16:creationId xmlns:a16="http://schemas.microsoft.com/office/drawing/2014/main" id="{71560828-342B-26C4-C6F4-07616067F588}"/>
              </a:ext>
            </a:extLst>
          </p:cNvPr>
          <p:cNvPicPr>
            <a:picLocks noGrp="1" noChangeAspect="1"/>
          </p:cNvPicPr>
          <p:nvPr>
            <p:ph sz="half" idx="2"/>
          </p:nvPr>
        </p:nvPicPr>
        <p:blipFill>
          <a:blip r:embed="rId3"/>
          <a:stretch>
            <a:fillRect/>
          </a:stretch>
        </p:blipFill>
        <p:spPr>
          <a:xfrm>
            <a:off x="6477948" y="3087884"/>
            <a:ext cx="5025080" cy="1661097"/>
          </a:xfrm>
          <a:prstGeom prst="rect">
            <a:avLst/>
          </a:prstGeom>
        </p:spPr>
      </p:pic>
    </p:spTree>
    <p:extLst>
      <p:ext uri="{BB962C8B-B14F-4D97-AF65-F5344CB8AC3E}">
        <p14:creationId xmlns:p14="http://schemas.microsoft.com/office/powerpoint/2010/main" val="1779220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C621-2513-8129-6BC0-C92318720A13}"/>
              </a:ext>
            </a:extLst>
          </p:cNvPr>
          <p:cNvSpPr>
            <a:spLocks noGrp="1"/>
          </p:cNvSpPr>
          <p:nvPr>
            <p:ph type="title"/>
          </p:nvPr>
        </p:nvSpPr>
        <p:spPr>
          <a:xfrm>
            <a:off x="838200" y="365125"/>
            <a:ext cx="10515600" cy="991727"/>
          </a:xfrm>
        </p:spPr>
        <p:txBody>
          <a:bodyPr/>
          <a:lstStyle/>
          <a:p>
            <a:r>
              <a:rPr lang="en-US" b="1" dirty="0"/>
              <a:t>Methodology</a:t>
            </a:r>
            <a:endParaRPr lang="en-IN" b="1" dirty="0"/>
          </a:p>
        </p:txBody>
      </p:sp>
      <p:pic>
        <p:nvPicPr>
          <p:cNvPr id="4" name="Picture 2" descr="MAPS &amp; DIRECTIONS - Best Private University in Telangana &amp; Andhra Pradesh | KLH  Hyderabad">
            <a:extLst>
              <a:ext uri="{FF2B5EF4-FFF2-40B4-BE49-F238E27FC236}">
                <a16:creationId xmlns:a16="http://schemas.microsoft.com/office/drawing/2014/main" id="{C912CFD1-19F9-57DE-E49F-BFBB2DC05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9" name="Content Placeholder 8">
            <a:extLst>
              <a:ext uri="{FF2B5EF4-FFF2-40B4-BE49-F238E27FC236}">
                <a16:creationId xmlns:a16="http://schemas.microsoft.com/office/drawing/2014/main" id="{5F017D7C-FA0A-274A-45E5-05E760F53F2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4208206" y="1356852"/>
            <a:ext cx="3251850" cy="4877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603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ADB06-16F0-3A86-CE21-13A2E636DD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70B5A-6F93-6CD1-CE21-B49BDDF7A239}"/>
              </a:ext>
            </a:extLst>
          </p:cNvPr>
          <p:cNvSpPr>
            <a:spLocks noGrp="1"/>
          </p:cNvSpPr>
          <p:nvPr>
            <p:ph type="title"/>
          </p:nvPr>
        </p:nvSpPr>
        <p:spPr>
          <a:xfrm>
            <a:off x="838200" y="365125"/>
            <a:ext cx="10515600" cy="991727"/>
          </a:xfrm>
        </p:spPr>
        <p:txBody>
          <a:bodyPr/>
          <a:lstStyle/>
          <a:p>
            <a:r>
              <a:rPr lang="en-US" b="1" dirty="0"/>
              <a:t>Methodology</a:t>
            </a:r>
            <a:endParaRPr lang="en-IN" b="1" dirty="0"/>
          </a:p>
        </p:txBody>
      </p:sp>
      <p:pic>
        <p:nvPicPr>
          <p:cNvPr id="6" name="Content Placeholder 5">
            <a:extLst>
              <a:ext uri="{FF2B5EF4-FFF2-40B4-BE49-F238E27FC236}">
                <a16:creationId xmlns:a16="http://schemas.microsoft.com/office/drawing/2014/main" id="{51146998-FCEF-6FD3-A655-9DA956BE84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401" y="1619148"/>
            <a:ext cx="7735197" cy="4351338"/>
          </a:xfrm>
          <a:prstGeom prst="rect">
            <a:avLst/>
          </a:prstGeom>
        </p:spPr>
      </p:pic>
      <p:pic>
        <p:nvPicPr>
          <p:cNvPr id="4" name="Picture 2" descr="MAPS &amp; DIRECTIONS - Best Private University in Telangana &amp; Andhra Pradesh | KLH  Hyderabad">
            <a:extLst>
              <a:ext uri="{FF2B5EF4-FFF2-40B4-BE49-F238E27FC236}">
                <a16:creationId xmlns:a16="http://schemas.microsoft.com/office/drawing/2014/main" id="{E506800C-0BB8-3A45-7D17-349E1A9E48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184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30F7B-1334-20B0-3B25-E10072D57447}"/>
              </a:ext>
            </a:extLst>
          </p:cNvPr>
          <p:cNvSpPr>
            <a:spLocks noGrp="1"/>
          </p:cNvSpPr>
          <p:nvPr>
            <p:ph type="title"/>
          </p:nvPr>
        </p:nvSpPr>
        <p:spPr/>
        <p:txBody>
          <a:bodyPr/>
          <a:lstStyle/>
          <a:p>
            <a:r>
              <a:rPr lang="en-US" b="1" dirty="0"/>
              <a:t>Task-1 Results</a:t>
            </a:r>
            <a:endParaRPr lang="en-IN" b="1" dirty="0"/>
          </a:p>
        </p:txBody>
      </p:sp>
      <p:pic>
        <p:nvPicPr>
          <p:cNvPr id="6" name="Content Placeholder 5">
            <a:extLst>
              <a:ext uri="{FF2B5EF4-FFF2-40B4-BE49-F238E27FC236}">
                <a16:creationId xmlns:a16="http://schemas.microsoft.com/office/drawing/2014/main" id="{E70312E5-06E9-D70A-0D04-E7F342EB601A}"/>
              </a:ext>
            </a:extLst>
          </p:cNvPr>
          <p:cNvPicPr>
            <a:picLocks noGrp="1" noChangeAspect="1"/>
          </p:cNvPicPr>
          <p:nvPr>
            <p:ph idx="1"/>
          </p:nvPr>
        </p:nvPicPr>
        <p:blipFill>
          <a:blip r:embed="rId2"/>
          <a:stretch>
            <a:fillRect/>
          </a:stretch>
        </p:blipFill>
        <p:spPr>
          <a:xfrm>
            <a:off x="838200" y="2222090"/>
            <a:ext cx="10411472" cy="3594356"/>
          </a:xfrm>
          <a:prstGeom prst="rect">
            <a:avLst/>
          </a:prstGeom>
        </p:spPr>
      </p:pic>
      <p:pic>
        <p:nvPicPr>
          <p:cNvPr id="4" name="Picture 2" descr="MAPS &amp; DIRECTIONS - Best Private University in Telangana &amp; Andhra Pradesh | KLH  Hyderabad">
            <a:extLst>
              <a:ext uri="{FF2B5EF4-FFF2-40B4-BE49-F238E27FC236}">
                <a16:creationId xmlns:a16="http://schemas.microsoft.com/office/drawing/2014/main" id="{F64FBAE5-C455-1AAE-C1CA-BD383C9D9C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2330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3DB6D35-7876-A044-9A82-1395DE9F84DC}"/>
              </a:ext>
            </a:extLst>
          </p:cNvPr>
          <p:cNvPicPr>
            <a:picLocks noGrp="1" noChangeAspect="1"/>
          </p:cNvPicPr>
          <p:nvPr>
            <p:ph sz="half" idx="1"/>
          </p:nvPr>
        </p:nvPicPr>
        <p:blipFill>
          <a:blip r:embed="rId2"/>
          <a:stretch>
            <a:fillRect/>
          </a:stretch>
        </p:blipFill>
        <p:spPr>
          <a:xfrm>
            <a:off x="1736622" y="1170739"/>
            <a:ext cx="8718755" cy="2258261"/>
          </a:xfrm>
          <a:prstGeom prst="rect">
            <a:avLst/>
          </a:prstGeom>
        </p:spPr>
      </p:pic>
      <p:pic>
        <p:nvPicPr>
          <p:cNvPr id="10" name="Picture 9">
            <a:extLst>
              <a:ext uri="{FF2B5EF4-FFF2-40B4-BE49-F238E27FC236}">
                <a16:creationId xmlns:a16="http://schemas.microsoft.com/office/drawing/2014/main" id="{F0D7F831-CD79-B6A1-08AF-B21368921666}"/>
              </a:ext>
            </a:extLst>
          </p:cNvPr>
          <p:cNvPicPr>
            <a:picLocks noChangeAspect="1"/>
          </p:cNvPicPr>
          <p:nvPr/>
        </p:nvPicPr>
        <p:blipFill>
          <a:blip r:embed="rId3"/>
          <a:stretch>
            <a:fillRect/>
          </a:stretch>
        </p:blipFill>
        <p:spPr>
          <a:xfrm>
            <a:off x="746023" y="3811032"/>
            <a:ext cx="10699954" cy="2086295"/>
          </a:xfrm>
          <a:prstGeom prst="rect">
            <a:avLst/>
          </a:prstGeom>
        </p:spPr>
      </p:pic>
    </p:spTree>
    <p:extLst>
      <p:ext uri="{BB962C8B-B14F-4D97-AF65-F5344CB8AC3E}">
        <p14:creationId xmlns:p14="http://schemas.microsoft.com/office/powerpoint/2010/main" val="3172079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23D5A-6167-0870-1665-631F9F811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FD972E-5664-A52C-364C-879082D31885}"/>
              </a:ext>
            </a:extLst>
          </p:cNvPr>
          <p:cNvSpPr>
            <a:spLocks noGrp="1"/>
          </p:cNvSpPr>
          <p:nvPr>
            <p:ph type="title"/>
          </p:nvPr>
        </p:nvSpPr>
        <p:spPr/>
        <p:txBody>
          <a:bodyPr/>
          <a:lstStyle/>
          <a:p>
            <a:r>
              <a:rPr lang="en-US" b="1" dirty="0"/>
              <a:t>Task-2 Results</a:t>
            </a:r>
            <a:endParaRPr lang="en-IN" b="1" dirty="0"/>
          </a:p>
        </p:txBody>
      </p:sp>
      <p:pic>
        <p:nvPicPr>
          <p:cNvPr id="4" name="Picture 2" descr="MAPS &amp; DIRECTIONS - Best Private University in Telangana &amp; Andhra Pradesh | KLH  Hyderabad">
            <a:extLst>
              <a:ext uri="{FF2B5EF4-FFF2-40B4-BE49-F238E27FC236}">
                <a16:creationId xmlns:a16="http://schemas.microsoft.com/office/drawing/2014/main" id="{A073E46B-06BF-DAD8-C30A-98E5BD04C5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6">
            <a:extLst>
              <a:ext uri="{FF2B5EF4-FFF2-40B4-BE49-F238E27FC236}">
                <a16:creationId xmlns:a16="http://schemas.microsoft.com/office/drawing/2014/main" id="{3BB90028-D3C9-0078-230B-88FA1785DF5E}"/>
              </a:ext>
            </a:extLst>
          </p:cNvPr>
          <p:cNvPicPr>
            <a:picLocks noGrp="1" noChangeAspect="1"/>
          </p:cNvPicPr>
          <p:nvPr>
            <p:ph idx="1"/>
          </p:nvPr>
        </p:nvPicPr>
        <p:blipFill>
          <a:blip r:embed="rId3"/>
          <a:stretch>
            <a:fillRect/>
          </a:stretch>
        </p:blipFill>
        <p:spPr>
          <a:xfrm>
            <a:off x="2700996" y="2591472"/>
            <a:ext cx="6790008" cy="2819644"/>
          </a:xfrm>
          <a:prstGeom prst="rect">
            <a:avLst/>
          </a:prstGeom>
        </p:spPr>
      </p:pic>
    </p:spTree>
    <p:extLst>
      <p:ext uri="{BB962C8B-B14F-4D97-AF65-F5344CB8AC3E}">
        <p14:creationId xmlns:p14="http://schemas.microsoft.com/office/powerpoint/2010/main" val="1292849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22020-0D5C-A8E9-737D-1FFDFE2DF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35978-CC40-2E96-C0D3-1EA1BF13D83B}"/>
              </a:ext>
            </a:extLst>
          </p:cNvPr>
          <p:cNvSpPr>
            <a:spLocks noGrp="1"/>
          </p:cNvSpPr>
          <p:nvPr>
            <p:ph type="title"/>
          </p:nvPr>
        </p:nvSpPr>
        <p:spPr/>
        <p:txBody>
          <a:bodyPr/>
          <a:lstStyle/>
          <a:p>
            <a:r>
              <a:rPr lang="en-US" b="1" dirty="0"/>
              <a:t>Task-2 Results</a:t>
            </a:r>
            <a:endParaRPr lang="en-IN" b="1" dirty="0"/>
          </a:p>
        </p:txBody>
      </p:sp>
      <p:pic>
        <p:nvPicPr>
          <p:cNvPr id="4" name="Picture 2" descr="MAPS &amp; DIRECTIONS - Best Private University in Telangana &amp; Andhra Pradesh | KLH  Hyderabad">
            <a:extLst>
              <a:ext uri="{FF2B5EF4-FFF2-40B4-BE49-F238E27FC236}">
                <a16:creationId xmlns:a16="http://schemas.microsoft.com/office/drawing/2014/main" id="{EA64AE66-C755-DF04-AC4B-98BF62534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163D55D9-741F-4694-1DC6-F116107E67A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51423" y="1939318"/>
            <a:ext cx="9089154" cy="4123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9612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7FB08-7CEA-4A06-068F-2FDDB52FD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5A526-8D77-7F3F-497C-3E866EFF6761}"/>
              </a:ext>
            </a:extLst>
          </p:cNvPr>
          <p:cNvSpPr>
            <a:spLocks noGrp="1"/>
          </p:cNvSpPr>
          <p:nvPr>
            <p:ph type="title"/>
          </p:nvPr>
        </p:nvSpPr>
        <p:spPr/>
        <p:txBody>
          <a:bodyPr/>
          <a:lstStyle/>
          <a:p>
            <a:r>
              <a:rPr lang="en-US" b="1" dirty="0"/>
              <a:t>Task-2 Results</a:t>
            </a:r>
            <a:endParaRPr lang="en-IN" b="1" dirty="0"/>
          </a:p>
        </p:txBody>
      </p:sp>
      <p:pic>
        <p:nvPicPr>
          <p:cNvPr id="4" name="Picture 2" descr="MAPS &amp; DIRECTIONS - Best Private University in Telangana &amp; Andhra Pradesh | KLH  Hyderabad">
            <a:extLst>
              <a:ext uri="{FF2B5EF4-FFF2-40B4-BE49-F238E27FC236}">
                <a16:creationId xmlns:a16="http://schemas.microsoft.com/office/drawing/2014/main" id="{565B397C-4334-DD5E-E65C-D2E7E8251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2F3D2832-4795-C68E-413D-DAAAEDBE375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50940" y="1852449"/>
            <a:ext cx="7690119" cy="4297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777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40E56-EF2B-61C6-BCCB-4E95F9AC90BE}"/>
              </a:ext>
            </a:extLst>
          </p:cNvPr>
          <p:cNvSpPr>
            <a:spLocks noGrp="1"/>
          </p:cNvSpPr>
          <p:nvPr>
            <p:ph type="title"/>
          </p:nvPr>
        </p:nvSpPr>
        <p:spPr/>
        <p:txBody>
          <a:bodyPr/>
          <a:lstStyle/>
          <a:p>
            <a:r>
              <a:rPr lang="en-US" b="1" dirty="0"/>
              <a:t>Task-3 Results</a:t>
            </a:r>
            <a:endParaRPr lang="en-IN" b="1" dirty="0"/>
          </a:p>
        </p:txBody>
      </p:sp>
      <p:pic>
        <p:nvPicPr>
          <p:cNvPr id="5" name="Content Placeholder 4">
            <a:extLst>
              <a:ext uri="{FF2B5EF4-FFF2-40B4-BE49-F238E27FC236}">
                <a16:creationId xmlns:a16="http://schemas.microsoft.com/office/drawing/2014/main" id="{B7C8D63D-59C5-3623-0A44-48F17C99491E}"/>
              </a:ext>
            </a:extLst>
          </p:cNvPr>
          <p:cNvPicPr>
            <a:picLocks noGrp="1" noChangeAspect="1"/>
          </p:cNvPicPr>
          <p:nvPr>
            <p:ph idx="1"/>
          </p:nvPr>
        </p:nvPicPr>
        <p:blipFill>
          <a:blip r:embed="rId2"/>
          <a:stretch>
            <a:fillRect/>
          </a:stretch>
        </p:blipFill>
        <p:spPr>
          <a:xfrm>
            <a:off x="4198455" y="2484782"/>
            <a:ext cx="3795089" cy="3033023"/>
          </a:xfrm>
          <a:prstGeom prst="rect">
            <a:avLst/>
          </a:prstGeom>
        </p:spPr>
      </p:pic>
      <p:pic>
        <p:nvPicPr>
          <p:cNvPr id="6" name="Picture 2" descr="MAPS &amp; DIRECTIONS - Best Private University in Telangana &amp; Andhra Pradesh | KLH  Hyderabad">
            <a:extLst>
              <a:ext uri="{FF2B5EF4-FFF2-40B4-BE49-F238E27FC236}">
                <a16:creationId xmlns:a16="http://schemas.microsoft.com/office/drawing/2014/main" id="{6FD1BCDF-5F19-E577-5CF5-5D6189956F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4424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BAD26-E5F5-5973-A0EC-13F88AF42CE8}"/>
              </a:ext>
            </a:extLst>
          </p:cNvPr>
          <p:cNvSpPr>
            <a:spLocks noGrp="1"/>
          </p:cNvSpPr>
          <p:nvPr>
            <p:ph type="title"/>
          </p:nvPr>
        </p:nvSpPr>
        <p:spPr/>
        <p:txBody>
          <a:bodyPr/>
          <a:lstStyle/>
          <a:p>
            <a:r>
              <a:rPr lang="en-US" b="1" dirty="0"/>
              <a:t>Conclusions</a:t>
            </a:r>
            <a:endParaRPr lang="en-IN" b="1" dirty="0"/>
          </a:p>
        </p:txBody>
      </p:sp>
      <p:sp>
        <p:nvSpPr>
          <p:cNvPr id="3" name="Content Placeholder 2">
            <a:extLst>
              <a:ext uri="{FF2B5EF4-FFF2-40B4-BE49-F238E27FC236}">
                <a16:creationId xmlns:a16="http://schemas.microsoft.com/office/drawing/2014/main" id="{D202E274-7001-7673-4CC1-EFEFA1B6B136}"/>
              </a:ext>
            </a:extLst>
          </p:cNvPr>
          <p:cNvSpPr>
            <a:spLocks noGrp="1"/>
          </p:cNvSpPr>
          <p:nvPr>
            <p:ph idx="1"/>
          </p:nvPr>
        </p:nvSpPr>
        <p:spPr/>
        <p:txBody>
          <a:bodyPr>
            <a:normAutofit lnSpcReduction="10000"/>
          </a:bodyPr>
          <a:lstStyle/>
          <a:p>
            <a:r>
              <a:rPr lang="en-US" dirty="0"/>
              <a:t>Developed a </a:t>
            </a:r>
            <a:r>
              <a:rPr lang="en-US" b="1" dirty="0"/>
              <a:t>solar power forecasting model</a:t>
            </a:r>
            <a:r>
              <a:rPr lang="en-US" dirty="0"/>
              <a:t> for 24-hour ahead prediction </a:t>
            </a:r>
          </a:p>
          <a:p>
            <a:r>
              <a:rPr lang="en-US" dirty="0"/>
              <a:t>Successfully transformed time-series data into a </a:t>
            </a:r>
            <a:r>
              <a:rPr lang="en-US" b="1" dirty="0"/>
              <a:t>supervised learning problem</a:t>
            </a:r>
            <a:r>
              <a:rPr lang="en-US" dirty="0"/>
              <a:t> </a:t>
            </a:r>
          </a:p>
          <a:p>
            <a:r>
              <a:rPr lang="en-US" dirty="0"/>
              <a:t>Used </a:t>
            </a:r>
            <a:r>
              <a:rPr lang="en-US" b="1" dirty="0"/>
              <a:t>feature engineering (lag, rolling, weather features)</a:t>
            </a:r>
            <a:r>
              <a:rPr lang="en-US" dirty="0"/>
              <a:t> to improve performance </a:t>
            </a:r>
          </a:p>
          <a:p>
            <a:r>
              <a:rPr lang="en-US" dirty="0"/>
              <a:t>Implemented </a:t>
            </a:r>
            <a:r>
              <a:rPr lang="en-US" b="1" dirty="0"/>
              <a:t>multi-output regression</a:t>
            </a:r>
            <a:r>
              <a:rPr lang="en-US" dirty="0"/>
              <a:t> to predict 96 time steps simultaneously </a:t>
            </a:r>
          </a:p>
          <a:p>
            <a:r>
              <a:rPr lang="en-US" dirty="0"/>
              <a:t>Model captures </a:t>
            </a:r>
            <a:r>
              <a:rPr lang="en-US" b="1" dirty="0"/>
              <a:t>solar patterns and weather dependency effectively</a:t>
            </a:r>
            <a:r>
              <a:rPr lang="en-US" dirty="0"/>
              <a:t> </a:t>
            </a:r>
          </a:p>
          <a:p>
            <a:r>
              <a:rPr lang="en-US" dirty="0"/>
              <a:t>Achieved reliable performance using </a:t>
            </a:r>
            <a:r>
              <a:rPr lang="en-US" b="1" dirty="0"/>
              <a:t>MAE and RMSE metrics</a:t>
            </a:r>
            <a:r>
              <a:rPr lang="en-US" dirty="0"/>
              <a:t>  points</a:t>
            </a:r>
            <a:endParaRPr lang="en-IN" dirty="0"/>
          </a:p>
        </p:txBody>
      </p:sp>
      <p:pic>
        <p:nvPicPr>
          <p:cNvPr id="4" name="Picture 2" descr="MAPS &amp; DIRECTIONS - Best Private University in Telangana &amp; Andhra Pradesh | KLH  Hyderabad">
            <a:extLst>
              <a:ext uri="{FF2B5EF4-FFF2-40B4-BE49-F238E27FC236}">
                <a16:creationId xmlns:a16="http://schemas.microsoft.com/office/drawing/2014/main" id="{B6E19936-D67B-7AB4-82C7-2A58CF2B7F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482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462FBC-3687-87C7-FC7F-277D448EF6BB}"/>
              </a:ext>
            </a:extLst>
          </p:cNvPr>
          <p:cNvSpPr>
            <a:spLocks noGrp="1"/>
          </p:cNvSpPr>
          <p:nvPr>
            <p:ph idx="1"/>
          </p:nvPr>
        </p:nvSpPr>
        <p:spPr/>
        <p:txBody>
          <a:bodyPr>
            <a:normAutofit/>
          </a:bodyPr>
          <a:lstStyle/>
          <a:p>
            <a:pPr marL="0" indent="0" algn="ctr">
              <a:buNone/>
            </a:pPr>
            <a:r>
              <a:rPr lang="en-US" sz="5400" dirty="0"/>
              <a:t>Thank You</a:t>
            </a:r>
            <a:endParaRPr lang="en-IN" sz="5400" dirty="0"/>
          </a:p>
        </p:txBody>
      </p:sp>
      <p:pic>
        <p:nvPicPr>
          <p:cNvPr id="4" name="Picture 2" descr="MAPS &amp; DIRECTIONS - Best Private University in Telangana &amp; Andhra Pradesh | KLH  Hyderabad">
            <a:extLst>
              <a:ext uri="{FF2B5EF4-FFF2-40B4-BE49-F238E27FC236}">
                <a16:creationId xmlns:a16="http://schemas.microsoft.com/office/drawing/2014/main" id="{C6F8CFC0-5307-53E5-1582-E793FE694A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1781" y="2247589"/>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MAPS &amp; DIRECTIONS - Best Private University in Telangana &amp; Andhra Pradesh | KLH  Hyderabad">
            <a:extLst>
              <a:ext uri="{FF2B5EF4-FFF2-40B4-BE49-F238E27FC236}">
                <a16:creationId xmlns:a16="http://schemas.microsoft.com/office/drawing/2014/main" id="{D067E101-273C-CE51-6B7D-59F2CC40F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112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189</Words>
  <Application>Microsoft Office PowerPoint</Application>
  <PresentationFormat>Widescreen</PresentationFormat>
  <Paragraphs>37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Solar Power Generation Forecasting for Grid Management</vt:lpstr>
      <vt:lpstr>Table of Contents</vt:lpstr>
      <vt:lpstr>Problem Statement</vt:lpstr>
      <vt:lpstr>Dataset/s Description</vt:lpstr>
      <vt:lpstr>Tasks</vt:lpstr>
      <vt:lpstr>Methodology</vt:lpstr>
      <vt:lpstr>Methodology</vt:lpstr>
      <vt:lpstr>Task-1 Results</vt:lpstr>
      <vt:lpstr>PowerPoint Presentation</vt:lpstr>
      <vt:lpstr>Task-2 Results</vt:lpstr>
      <vt:lpstr>Task-2 Results</vt:lpstr>
      <vt:lpstr>Task-2 Results</vt:lpstr>
      <vt:lpstr>Task-3 Results</vt:lpstr>
      <vt:lpstr>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Jyothsna Datti</dc:creator>
  <cp:lastModifiedBy>Sai Jashan</cp:lastModifiedBy>
  <cp:revision>12</cp:revision>
  <dcterms:created xsi:type="dcterms:W3CDTF">2026-02-05T06:38:40Z</dcterms:created>
  <dcterms:modified xsi:type="dcterms:W3CDTF">2026-04-06T05:42:10Z</dcterms:modified>
</cp:coreProperties>
</file>